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3" r:id="rId2"/>
    <p:sldId id="258" r:id="rId3"/>
    <p:sldId id="270" r:id="rId4"/>
    <p:sldId id="259" r:id="rId5"/>
    <p:sldId id="260" r:id="rId6"/>
    <p:sldId id="272" r:id="rId7"/>
    <p:sldId id="261" r:id="rId8"/>
    <p:sldId id="27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AD0635-46C4-478A-88D8-9C43BA0EA5BE}">
  <a:tblStyle styleId="{7AAD0635-46C4-478A-88D8-9C43BA0EA5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080DBAE-61FF-7991-DEDA-DAADBDBB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756789B-722C-482D-4EE9-ECD32C72E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0697B3A-A5A1-1B89-22E1-2831237F1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48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6C201A6-4295-7F37-A70D-49AA85E8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78E2A9EF-1879-B0E1-75EA-6B94E25A3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A4CD9156-BE8D-8153-F887-5E8F7722F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839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2FF888-BAEF-18E7-5CD0-3A26AA34E9C0}"/>
              </a:ext>
            </a:extLst>
          </p:cNvPr>
          <p:cNvSpPr txBox="1"/>
          <p:nvPr/>
        </p:nvSpPr>
        <p:spPr>
          <a:xfrm>
            <a:off x="2384981" y="2644170"/>
            <a:ext cx="718322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Baust Community Center</a:t>
            </a:r>
            <a:endParaRPr lang="en-US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27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7936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304831-ABD5-5B32-BCEC-B9A552DF8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80583"/>
              </p:ext>
            </p:extLst>
          </p:nvPr>
        </p:nvGraphicFramePr>
        <p:xfrm>
          <a:off x="776748" y="4732346"/>
          <a:ext cx="4837471" cy="2009932"/>
        </p:xfrm>
        <a:graphic>
          <a:graphicData uri="http://schemas.openxmlformats.org/drawingml/2006/table">
            <a:tbl>
              <a:tblPr firstRow="1" firstCol="1" bandRow="1">
                <a:tableStyleId>{7AAD0635-46C4-478A-88D8-9C43BA0EA5BE}</a:tableStyleId>
              </a:tblPr>
              <a:tblGrid>
                <a:gridCol w="2959510">
                  <a:extLst>
                    <a:ext uri="{9D8B030D-6E8A-4147-A177-3AD203B41FA5}">
                      <a16:colId xmlns:a16="http://schemas.microsoft.com/office/drawing/2014/main" val="2881327786"/>
                    </a:ext>
                  </a:extLst>
                </a:gridCol>
                <a:gridCol w="1877961">
                  <a:extLst>
                    <a:ext uri="{9D8B030D-6E8A-4147-A177-3AD203B41FA5}">
                      <a16:colId xmlns:a16="http://schemas.microsoft.com/office/drawing/2014/main" val="2875066174"/>
                    </a:ext>
                  </a:extLst>
                </a:gridCol>
              </a:tblGrid>
              <a:tr h="6737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15925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17590"/>
                  </a:ext>
                </a:extLst>
              </a:tr>
              <a:tr h="4453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 Sayadul Islam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36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0802420405101103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98238"/>
                  </a:ext>
                </a:extLst>
              </a:tr>
              <a:tr h="4453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 Elias Ahmad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36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0802420405101139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554873"/>
                  </a:ext>
                </a:extLst>
              </a:tr>
              <a:tr h="4453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Momita Jaman Momo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36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0802420105101101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52426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CDCAE5E-BF0B-87D8-30B6-4F46DA36D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3425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05">
            <a:extLst>
              <a:ext uri="{FF2B5EF4-FFF2-40B4-BE49-F238E27FC236}">
                <a16:creationId xmlns:a16="http://schemas.microsoft.com/office/drawing/2014/main" id="{FAACEBF8-BAE3-44FC-305C-FEF4C16D6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769" y="205502"/>
            <a:ext cx="1668462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5484F0-51D9-67BE-3806-113FC49E83A0}"/>
              </a:ext>
            </a:extLst>
          </p:cNvPr>
          <p:cNvSpPr txBox="1"/>
          <p:nvPr/>
        </p:nvSpPr>
        <p:spPr>
          <a:xfrm>
            <a:off x="776748" y="1920002"/>
            <a:ext cx="11061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000" b="1" dirty="0">
                <a:latin typeface="Arial" panose="020B0604020202020204" pitchFamily="34" charset="0"/>
                <a:ea typeface="Times New Roman" panose="02020603050405020304" pitchFamily="18" charset="0"/>
              </a:rPr>
              <a:t>Bangladesh Army University of Science and Technology</a:t>
            </a:r>
            <a:endParaRPr lang="en-US" altLang="en-US" sz="3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000" b="1" dirty="0">
                <a:latin typeface="Arial" panose="020B0604020202020204" pitchFamily="34" charset="0"/>
                <a:ea typeface="Times New Roman" panose="02020603050405020304" pitchFamily="18" charset="0"/>
              </a:rPr>
              <a:t>Saidpur, </a:t>
            </a:r>
            <a:r>
              <a:rPr lang="en-US" altLang="en-US" sz="30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Nilphamari</a:t>
            </a:r>
            <a:r>
              <a:rPr lang="en-US" altLang="en-US" sz="30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3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460860-1B2E-8275-DD08-4689BD691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92368"/>
              </p:ext>
            </p:extLst>
          </p:nvPr>
        </p:nvGraphicFramePr>
        <p:xfrm>
          <a:off x="5958348" y="4732346"/>
          <a:ext cx="5335294" cy="2009933"/>
        </p:xfrm>
        <a:graphic>
          <a:graphicData uri="http://schemas.openxmlformats.org/drawingml/2006/table">
            <a:tbl>
              <a:tblPr firstRow="1" firstCol="1" bandRow="1">
                <a:tableStyleId>{7AAD0635-46C4-478A-88D8-9C43BA0EA5BE}</a:tableStyleId>
              </a:tblPr>
              <a:tblGrid>
                <a:gridCol w="2337390">
                  <a:extLst>
                    <a:ext uri="{9D8B030D-6E8A-4147-A177-3AD203B41FA5}">
                      <a16:colId xmlns:a16="http://schemas.microsoft.com/office/drawing/2014/main" val="287975139"/>
                    </a:ext>
                  </a:extLst>
                </a:gridCol>
                <a:gridCol w="2997904">
                  <a:extLst>
                    <a:ext uri="{9D8B030D-6E8A-4147-A177-3AD203B41FA5}">
                      <a16:colId xmlns:a16="http://schemas.microsoft.com/office/drawing/2014/main" val="1685671271"/>
                    </a:ext>
                  </a:extLst>
                </a:gridCol>
              </a:tblGrid>
              <a:tr h="723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Teacher’s  Name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15925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Designation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04013"/>
                  </a:ext>
                </a:extLst>
              </a:tr>
              <a:tr h="58715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Shifa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Tasmiah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 Tisha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Lecturer, Department of CSE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669153"/>
                  </a:ext>
                </a:extLst>
              </a:tr>
              <a:tr h="69879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Md.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Maskur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 Al Shal Sabil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Lecturer, Department of CSE 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701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F67B2A-A6A3-B18D-545A-A22D38CE7527}"/>
              </a:ext>
            </a:extLst>
          </p:cNvPr>
          <p:cNvSpPr txBox="1"/>
          <p:nvPr/>
        </p:nvSpPr>
        <p:spPr>
          <a:xfrm>
            <a:off x="776748" y="3817476"/>
            <a:ext cx="3028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Submitted By:</a:t>
            </a:r>
            <a:r>
              <a:rPr lang="en-US" sz="2800" b="1" dirty="0"/>
              <a:t> 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1FF3B-517C-2294-6B30-D7F2E472DE8B}"/>
              </a:ext>
            </a:extLst>
          </p:cNvPr>
          <p:cNvSpPr txBox="1"/>
          <p:nvPr/>
        </p:nvSpPr>
        <p:spPr>
          <a:xfrm>
            <a:off x="6096000" y="3883025"/>
            <a:ext cx="5129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Submitted </a:t>
            </a:r>
            <a:r>
              <a:rPr lang="en-US" sz="2800" b="1" u="sng" dirty="0"/>
              <a:t>To: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3DE83511-8819-1AB5-DA3C-86301E8A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218DD06D-B775-6A19-D743-8DBF2A2337FC}"/>
              </a:ext>
            </a:extLst>
          </p:cNvPr>
          <p:cNvSpPr txBox="1"/>
          <p:nvPr/>
        </p:nvSpPr>
        <p:spPr>
          <a:xfrm>
            <a:off x="3240643" y="440230"/>
            <a:ext cx="579023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1A202C"/>
                </a:solidFill>
                <a:latin typeface="Urbanist"/>
                <a:ea typeface="Urbanist"/>
                <a:cs typeface="Urbanist"/>
                <a:sym typeface="Urbanist"/>
              </a:rPr>
              <a:t>Project Objectives</a:t>
            </a:r>
            <a:endParaRPr dirty="0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D2276A5A-B760-6E7F-D82D-19702E9D77C7}"/>
              </a:ext>
            </a:extLst>
          </p:cNvPr>
          <p:cNvSpPr/>
          <p:nvPr/>
        </p:nvSpPr>
        <p:spPr>
          <a:xfrm>
            <a:off x="5619750" y="1336798"/>
            <a:ext cx="952500" cy="4571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6421ACEE-81FE-D754-F2BC-1E2CDDD00231}"/>
              </a:ext>
            </a:extLst>
          </p:cNvPr>
          <p:cNvSpPr txBox="1"/>
          <p:nvPr/>
        </p:nvSpPr>
        <p:spPr>
          <a:xfrm>
            <a:off x="3240643" y="1949931"/>
            <a:ext cx="6402978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online booking system for community centers.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availability checking.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admin panel for managing bookings and payments.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 booking process for users.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check availability before booking.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admins to approve, cancel, or manage bookings.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secure database of all bookings. </a:t>
            </a:r>
          </a:p>
        </p:txBody>
      </p:sp>
    </p:spTree>
    <p:extLst>
      <p:ext uri="{BB962C8B-B14F-4D97-AF65-F5344CB8AC3E}">
        <p14:creationId xmlns:p14="http://schemas.microsoft.com/office/powerpoint/2010/main" val="144835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2238375" y="2609850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Problem: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Inefficient manual tracking, high risk of scheduling conflicts, and no central information hub for users to check facility availability.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238375" y="3476625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Solution: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A centralized, web-based platform to streamline the booking process, provide real-time schedules, and offer efficient admin oversight.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238375" y="4343400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Core Goal: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To create a transparent, user-friendly, and manageable system that optimizes the use of community facilities.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Google Shape;11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574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242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3910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1A202C"/>
                </a:solidFill>
                <a:latin typeface="Urbanist"/>
                <a:ea typeface="Urbanist"/>
                <a:cs typeface="Urbanist"/>
                <a:sym typeface="Urbanist"/>
              </a:rPr>
              <a:t>Problem &amp; Solution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2777832" y="405353"/>
            <a:ext cx="6559154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System Architecture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619750" y="1213266"/>
            <a:ext cx="875318" cy="4571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FF3CC-C968-C915-20B6-29DF10A22A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7" t="31428" r="4934" b="23658"/>
          <a:stretch>
            <a:fillRect/>
          </a:stretch>
        </p:blipFill>
        <p:spPr>
          <a:xfrm>
            <a:off x="2045616" y="2112617"/>
            <a:ext cx="7946796" cy="4127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>
          <a:extLst>
            <a:ext uri="{FF2B5EF4-FFF2-40B4-BE49-F238E27FC236}">
              <a16:creationId xmlns:a16="http://schemas.microsoft.com/office/drawing/2014/main" id="{D4CFE7B9-364B-135F-A245-EF6ADE60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0C91A0A-1151-E113-79E8-92D04F8643FB}"/>
              </a:ext>
            </a:extLst>
          </p:cNvPr>
          <p:cNvSpPr txBox="1"/>
          <p:nvPr/>
        </p:nvSpPr>
        <p:spPr>
          <a:xfrm>
            <a:off x="2777832" y="405353"/>
            <a:ext cx="6559154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Relational Table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B0E5D7D1-AB85-DF8B-5F55-80FF70E71C92}"/>
              </a:ext>
            </a:extLst>
          </p:cNvPr>
          <p:cNvSpPr/>
          <p:nvPr/>
        </p:nvSpPr>
        <p:spPr>
          <a:xfrm>
            <a:off x="5619750" y="1213266"/>
            <a:ext cx="875318" cy="4571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5AD75-2389-A8D9-23DC-213AEC43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2" t="34181" r="3677" b="29248"/>
          <a:stretch>
            <a:fillRect/>
          </a:stretch>
        </p:blipFill>
        <p:spPr>
          <a:xfrm>
            <a:off x="2309566" y="2581529"/>
            <a:ext cx="7390615" cy="324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5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571500" y="200501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Key Features for Users: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857250" y="2557462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User Registration &amp; Secure Login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57250" y="2986087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View Detailed Facility Information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857250" y="3414712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Browse Weekly Event Schedules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857250" y="3843337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Submit Booking Requests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857250" y="4271962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Check Personal Booking Status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2557462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71500" y="2986087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71500" y="3414712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3843337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4271962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User Portal: Public Access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093E6-69CD-43AC-D2DC-136AB6590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18" r="21830"/>
          <a:stretch>
            <a:fillRect/>
          </a:stretch>
        </p:blipFill>
        <p:spPr>
          <a:xfrm>
            <a:off x="5802194" y="1196874"/>
            <a:ext cx="5818306" cy="4149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62;p19">
            <a:extLst>
              <a:ext uri="{FF2B5EF4-FFF2-40B4-BE49-F238E27FC236}">
                <a16:creationId xmlns:a16="http://schemas.microsoft.com/office/drawing/2014/main" id="{8C256612-A189-960D-391E-E8C34E0A4B92}"/>
              </a:ext>
            </a:extLst>
          </p:cNvPr>
          <p:cNvSpPr txBox="1"/>
          <p:nvPr/>
        </p:nvSpPr>
        <p:spPr>
          <a:xfrm>
            <a:off x="571500" y="200501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Secure &amp; Separate: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63;p19">
            <a:extLst>
              <a:ext uri="{FF2B5EF4-FFF2-40B4-BE49-F238E27FC236}">
                <a16:creationId xmlns:a16="http://schemas.microsoft.com/office/drawing/2014/main" id="{8D2E446E-B1C6-9FB9-F392-A248D4191521}"/>
              </a:ext>
            </a:extLst>
          </p:cNvPr>
          <p:cNvSpPr txBox="1"/>
          <p:nvPr/>
        </p:nvSpPr>
        <p:spPr>
          <a:xfrm>
            <a:off x="857250" y="2557462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Separate login panel for authorized staff.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164;p19">
            <a:extLst>
              <a:ext uri="{FF2B5EF4-FFF2-40B4-BE49-F238E27FC236}">
                <a16:creationId xmlns:a16="http://schemas.microsoft.com/office/drawing/2014/main" id="{A7DD42D0-1EC7-B3D3-84ED-05E9B8861C97}"/>
              </a:ext>
            </a:extLst>
          </p:cNvPr>
          <p:cNvSpPr txBox="1"/>
          <p:nvPr/>
        </p:nvSpPr>
        <p:spPr>
          <a:xfrm>
            <a:off x="857250" y="2986087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Protects management functions.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5;p19">
            <a:extLst>
              <a:ext uri="{FF2B5EF4-FFF2-40B4-BE49-F238E27FC236}">
                <a16:creationId xmlns:a16="http://schemas.microsoft.com/office/drawing/2014/main" id="{B6F0C309-E086-9189-6452-0C67A648B3ED}"/>
              </a:ext>
            </a:extLst>
          </p:cNvPr>
          <p:cNvSpPr txBox="1"/>
          <p:nvPr/>
        </p:nvSpPr>
        <p:spPr>
          <a:xfrm>
            <a:off x="857250" y="3414712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Provides access to the central control dashboard.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166;p19">
            <a:extLst>
              <a:ext uri="{FF2B5EF4-FFF2-40B4-BE49-F238E27FC236}">
                <a16:creationId xmlns:a16="http://schemas.microsoft.com/office/drawing/2014/main" id="{5A81BAF4-A9E2-4C55-EB45-6D3A3CD3F22F}"/>
              </a:ext>
            </a:extLst>
          </p:cNvPr>
          <p:cNvSpPr txBox="1"/>
          <p:nvPr/>
        </p:nvSpPr>
        <p:spPr>
          <a:xfrm>
            <a:off x="762000" y="3807040"/>
            <a:ext cx="5000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Links to the user site for navigation.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167;p19" title="Screenshot 2025-11-18 174659.png">
            <a:extLst>
              <a:ext uri="{FF2B5EF4-FFF2-40B4-BE49-F238E27FC236}">
                <a16:creationId xmlns:a16="http://schemas.microsoft.com/office/drawing/2014/main" id="{99666DFF-D8CD-DBA2-B6A5-99717E2052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459" r="6720" b="16949"/>
          <a:stretch>
            <a:fillRect/>
          </a:stretch>
        </p:blipFill>
        <p:spPr>
          <a:xfrm>
            <a:off x="5953125" y="1991289"/>
            <a:ext cx="6155998" cy="313259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68;p19">
            <a:extLst>
              <a:ext uri="{FF2B5EF4-FFF2-40B4-BE49-F238E27FC236}">
                <a16:creationId xmlns:a16="http://schemas.microsoft.com/office/drawing/2014/main" id="{1C357F4A-D909-0FFC-F108-3553C4E3F26E}"/>
              </a:ext>
            </a:extLst>
          </p:cNvPr>
          <p:cNvSpPr txBox="1"/>
          <p:nvPr/>
        </p:nvSpPr>
        <p:spPr>
          <a:xfrm>
            <a:off x="571500" y="2557462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6" name="Google Shape;169;p19">
            <a:extLst>
              <a:ext uri="{FF2B5EF4-FFF2-40B4-BE49-F238E27FC236}">
                <a16:creationId xmlns:a16="http://schemas.microsoft.com/office/drawing/2014/main" id="{5865C21C-49DF-5E45-6356-8E64E4246D5F}"/>
              </a:ext>
            </a:extLst>
          </p:cNvPr>
          <p:cNvSpPr txBox="1"/>
          <p:nvPr/>
        </p:nvSpPr>
        <p:spPr>
          <a:xfrm>
            <a:off x="571500" y="2986087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7" name="Google Shape;170;p19">
            <a:extLst>
              <a:ext uri="{FF2B5EF4-FFF2-40B4-BE49-F238E27FC236}">
                <a16:creationId xmlns:a16="http://schemas.microsoft.com/office/drawing/2014/main" id="{2E6492F8-7BFD-CD78-0754-FED91164BFCF}"/>
              </a:ext>
            </a:extLst>
          </p:cNvPr>
          <p:cNvSpPr txBox="1"/>
          <p:nvPr/>
        </p:nvSpPr>
        <p:spPr>
          <a:xfrm>
            <a:off x="571500" y="3414712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8" name="Google Shape;171;p19">
            <a:extLst>
              <a:ext uri="{FF2B5EF4-FFF2-40B4-BE49-F238E27FC236}">
                <a16:creationId xmlns:a16="http://schemas.microsoft.com/office/drawing/2014/main" id="{AC594D57-0898-2CEE-B96C-C6B78658DCBA}"/>
              </a:ext>
            </a:extLst>
          </p:cNvPr>
          <p:cNvSpPr txBox="1"/>
          <p:nvPr/>
        </p:nvSpPr>
        <p:spPr>
          <a:xfrm>
            <a:off x="571500" y="3843337"/>
            <a:ext cx="19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9" name="Google Shape;172;p19">
            <a:extLst>
              <a:ext uri="{FF2B5EF4-FFF2-40B4-BE49-F238E27FC236}">
                <a16:creationId xmlns:a16="http://schemas.microsoft.com/office/drawing/2014/main" id="{4A5620BB-FAB1-1781-30F9-5DD7D6B194ED}"/>
              </a:ext>
            </a:extLst>
          </p:cNvPr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Admin Portal: Staff Access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24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622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5187" y="23622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622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2562" y="2362200"/>
            <a:ext cx="2547937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866775" y="3371850"/>
            <a:ext cx="10201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A169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Main Hall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866775" y="3962400"/>
            <a:ext cx="195738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Capacity: 200 people. Suitable for conferences, cultural programs, and seminars.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3700462" y="3371850"/>
            <a:ext cx="15701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A169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Meeting Room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700462" y="3962400"/>
            <a:ext cx="195738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Capacity: 20 people. Perfect for club meetings, small workshops, and group study.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6534150" y="3371850"/>
            <a:ext cx="1550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A169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Computer Lab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534150" y="3962400"/>
            <a:ext cx="195738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Capacity: 30 people. Ideal for IT training, coding bootcamps, and digital literacy classes.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9367837" y="3371850"/>
            <a:ext cx="12301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A169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Open Lawn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9367837" y="3962400"/>
            <a:ext cx="195738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Capacity: 150 people. Suitable for fairs, exhibitions, and outdoor activities.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7" name="Google Shape;15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765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00462" y="26765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6765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67837" y="26765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Available Facilities Showcase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571500" y="1400175"/>
            <a:ext cx="520065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Core Feature: Booking Management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71499" y="2981325"/>
            <a:ext cx="520064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admin dashboard is the system's control center. Staff can view all incoming booking requests in one clear, filterable table.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71499" y="4314825"/>
            <a:ext cx="53013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Full details are provided, including organizer, attendees, and purpose, allowing for informed and efficient decision-making.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99F0E-E9FD-3538-89E8-455800D90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898" y="1400175"/>
            <a:ext cx="6071648" cy="41689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2238374" y="2490787"/>
            <a:ext cx="868729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Filter Bookings: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Easily sort and view requests by status (All, Pending, Approved, Rejected).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2238374" y="3043237"/>
            <a:ext cx="852703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Approve Requests: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Confirms the booking, reserves the time slot, and updates the public schedule.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2238375" y="3910012"/>
            <a:ext cx="83007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Reject Requests: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Denies the booking and keeps the time slot open for other users.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2238375" y="4462462"/>
            <a:ext cx="830079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Manage Schedule: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Ensures no conflicts and optimizes the usage of all community facilities.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9" name="Google Shape;17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5384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8325" y="31623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57637"/>
            <a:ext cx="209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51008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353925" y="96143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Admin Actions &amp; Workflow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-6972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2"/>
          <p:cNvGraphicFramePr/>
          <p:nvPr/>
        </p:nvGraphicFramePr>
        <p:xfrm>
          <a:off x="571500" y="2114550"/>
          <a:ext cx="11049000" cy="3590875"/>
        </p:xfrm>
        <a:graphic>
          <a:graphicData uri="http://schemas.openxmlformats.org/drawingml/2006/table">
            <a:tbl>
              <a:tblPr firstRow="1" bandRow="1">
                <a:noFill/>
                <a:tableStyleId>{7AAD0635-46C4-478A-88D8-9C43BA0EA5BE}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6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202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202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Facility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202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202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202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Organizer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Sunday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 Hall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Orientation Program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10:00 AM - 1:00 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Student Affairs Office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Meeting Room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Debate Club Meeting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4:00 PM - 6:00 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Debate Club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Tuesday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Computer Lab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Web Development Workshop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2:00 PM - 5:00 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 Society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Wednesday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 Lawn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Cultural Night Rehearsal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5:00 PM - 8:00 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Cultural Club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Thursday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 Hall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Research Seminar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11:00 AM - 2:00 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D374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Research Cell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0" name="Google Shape;190;p22"/>
          <p:cNvSpPr/>
          <p:nvPr/>
        </p:nvSpPr>
        <p:spPr>
          <a:xfrm>
            <a:off x="571500" y="2700337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2095500" y="2700337"/>
            <a:ext cx="1788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3883967" y="2700337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984801" y="2700337"/>
            <a:ext cx="2169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9154269" y="2700337"/>
            <a:ext cx="2466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571500" y="3300412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095500" y="3300412"/>
            <a:ext cx="1788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883967" y="3300412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6984801" y="3300412"/>
            <a:ext cx="2169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9154269" y="3300412"/>
            <a:ext cx="2466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71500" y="3900487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095500" y="3900487"/>
            <a:ext cx="1788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883967" y="3900487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984801" y="3900487"/>
            <a:ext cx="2169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9154269" y="3900487"/>
            <a:ext cx="2466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71500" y="4500562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2095500" y="4500562"/>
            <a:ext cx="1788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883967" y="4500562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984801" y="4500562"/>
            <a:ext cx="2169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9154269" y="4500562"/>
            <a:ext cx="2466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" y="5100637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2095500" y="5100637"/>
            <a:ext cx="1788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883967" y="5100637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984801" y="5100637"/>
            <a:ext cx="2169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9154269" y="5100637"/>
            <a:ext cx="2466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Sample Public Schedule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031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50031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500312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857250" y="3500437"/>
            <a:ext cx="9501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7FAF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Frontend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857250" y="4090987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2E8F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HTML5, CSS3, and JavaScript for a responsive and interactive user interface.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4635549" y="3500437"/>
            <a:ext cx="9201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7FAF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Backend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635549" y="4090987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2E8F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Node.js with Express for a fast, scalable, and efficient server-side application.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8413849" y="3500437"/>
            <a:ext cx="105013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7FAF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Database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8413849" y="4090987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2E8F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MySQL for reliable, structured, and secure data storage and management.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8051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549" y="28051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849" y="28051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Technology Stack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2238375" y="2176462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Manual Approval: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Bookings are not instant and require manual administrator approval, creating a potential delay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2238375" y="3043237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Web-Only Access: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The system is currently only accessible via a web browser and lacks a dedicated mobile app.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2238375" y="3910012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No Payment Integration: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Lacks a built-in system for handling payments or deposits for paid facility use.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2238375" y="4776787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Basic Notifications:</a:t>
            </a:r>
            <a:r>
              <a:rPr lang="en-US" sz="1800" b="0" i="0" u="none" strike="noStrike" cap="none" dirty="0">
                <a:solidFill>
                  <a:srgbClr val="2D3748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The current system does not feature automated email or SMS reminders for bookings.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240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908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76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8244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Current </a:t>
            </a:r>
            <a:r>
              <a:rPr lang="en-US" sz="3600" b="1" i="0" u="none" strike="noStrike" cap="none" dirty="0">
                <a:solidFill>
                  <a:srgbClr val="1A202C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Limitations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/>
        </p:nvSpPr>
        <p:spPr>
          <a:xfrm>
            <a:off x="2238375" y="2176462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Mobile App: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Develop native Android and iOS apps for on-the-go booking and management.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2238375" y="3043237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Automated Notifications: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Implement email and SMS reminders for upcoming bookings and status changes.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2238375" y="3910012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Online Payment Gateway:</a:t>
            </a:r>
            <a:r>
              <a:rPr lang="en-US" sz="18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Integrate a secure payment system for paid events or facility deposits.</a:t>
            </a:r>
            <a:endParaRPr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2238375" y="4776787"/>
            <a:ext cx="8143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Analytics Dashboard: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Add a reporting module for admins to track facility usage and popular time slots.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224087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9086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576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8244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Future Scope</a:t>
            </a:r>
            <a:endParaRPr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/>
        </p:nvSpPr>
        <p:spPr>
          <a:xfrm>
            <a:off x="295275" y="2509837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Thank You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3776662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Questions &amp; Answers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732</Words>
  <Application>Microsoft Office PowerPoint</Application>
  <PresentationFormat>Widescreen</PresentationFormat>
  <Paragraphs>122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 Sayadul Islam Sayad</cp:lastModifiedBy>
  <cp:revision>7</cp:revision>
  <dcterms:modified xsi:type="dcterms:W3CDTF">2025-11-20T06:47:31Z</dcterms:modified>
</cp:coreProperties>
</file>